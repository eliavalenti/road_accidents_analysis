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277AA4-932D-4393-BB26-3F046127D741}">
          <p14:sldIdLst>
            <p14:sldId id="256"/>
          </p14:sldIdLst>
        </p14:section>
        <p14:section name="Untitled Section" id="{6E43D07D-6352-4B4C-9714-AC8DE4B3BDD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8F96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4FDF7-BF94-4017-A802-4E65A1795C98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EAD0A-7761-4145-83A3-46D11023311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18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EAD0A-7761-4145-83A3-46D11023311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9156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8C94-93E6-4EB8-4288-227474208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977BE-553E-E6A4-4725-29D4F6CDE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6C983-64F8-A8A0-91DF-79920752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DD3F3-E61D-9B10-F8F0-A39A1062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38B1-BC84-121E-770B-969A3BD9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898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E42A-66EA-5122-140C-24F1C1E4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C941C-9161-0AB6-F8C8-F2D958D11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C779-E9F8-4EA0-7DC0-33951CEF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6320-4A72-4FEF-1C62-02714B93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06F50-4225-4054-41F5-E946248A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440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FFE4-9EF8-C5D8-2C16-219D9E03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E6C58-307A-F724-3477-785B3DFD2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5703-1058-4BFB-8502-D2414597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CC77C-6512-B531-133D-CE8C73D8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37EC4-AE19-4BD1-A95E-34391F40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397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BC07-9FD5-A5B0-E2E0-1402AFF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5E8C9-DD87-1B2F-A777-290B55EBF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911C2-78B3-DCF6-501A-DEE8BE0E2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B2E3B-AE65-A620-4946-BB4446AD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EAC2E-2995-19CE-AFA7-4E326B29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2A792-A08B-17E1-6D51-E8F7E734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55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BA86-1BD9-0527-87E2-394CED78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20934-9BF9-4F6F-A92E-1AE1FA6E6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EABDB-2C38-7CF6-7C17-3B02DE853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F6373-CE35-2582-74BE-3FE62B10B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218D2-EDF8-8C98-35E4-DB2F1AFF8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01344-4AD4-212C-F637-8C9F2E1C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A0AD19-D572-8136-BC6D-79692562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6B770-7310-7833-806E-7D505464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5903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5402-9884-1AC1-E9D0-86EC88F9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FE33C-36F2-F71A-0794-52BFE9F9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49E74-D0AF-2BEE-67E6-A287D81B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475C7-7F63-8BEB-D597-62B1B662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0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594C9-494A-5D86-0F51-CD7F829F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E12C3-24BD-DD67-BE7C-996A7C5B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DFEBD-495F-485E-0044-842D08C6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507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21B4-4804-9277-4D6E-3CECFA81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E47B-61D0-660E-5567-87907F562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9094-7E9E-55AA-B9BA-6DD9C8EC2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EA73A-F090-BD26-FE6C-9B7888AF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1C410-A945-4A9E-7928-C6817934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22151-9E0F-C4CE-ACEA-FF505BEE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5729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57C2-993A-CB08-6511-98BC8440A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6FA86-14BD-F543-FE4A-19DA8029D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36130-AFEE-2D1D-E8C1-053E978D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46521-6367-4840-6A47-DE1CF5E58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6D96A-8B22-190F-4E2A-62A01E4B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2BFCB-8A6E-154E-0FD7-FF16DD9E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160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3F42-214C-79B2-25B5-879A328A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0DB1F-3E78-0CE5-8182-8846D2435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0593C-FC61-21B4-C650-C6DA73AF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E65AB-1203-513B-1FC8-FE32109D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0D2F-EE2F-948B-9D5E-CE1E9ACA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85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6829D-4BF3-B64A-CEFF-009C1658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B49CA-B062-57BE-9B4E-E004682D2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864F-A1A6-1D86-D78B-0D38F6E3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9AD8E-7EAE-B0E9-DED1-9E6AAF4B1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21725-C6DB-F23B-B187-20C6F47F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550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50C07-D53A-9645-80A4-B6477544B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99926-1E40-DEB6-2C2D-F31AAD29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A5AA0-1B62-F7E8-2268-99EEA4CB6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3841F-7192-4D2C-92F7-2530E340B98B}" type="datetimeFigureOut">
              <a:rPr lang="it-IT" smtClean="0"/>
              <a:t>03/07/2026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BA0AD-6970-C99D-BF77-0C23A3621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31425-AB73-1769-63CC-A5D403273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C721F-2B48-4880-9545-BCDE06C6F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293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sploradati.istat.it/SDMXWS/rest/data/41_983" TargetMode="External"/><Relationship Id="rId2" Type="http://schemas.openxmlformats.org/officeDocument/2006/relationships/hyperlink" Target="https://situas.istat.it/web/#/territorio/body?id=74&amp;dateFrom=2020-12-31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>
            <a:alpha val="1490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12B7-082A-E5D7-5FF1-B608C3062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Analisi: Incidenti stradali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CFBF8-0E4E-BD9C-69D5-54BC2DA3D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Italia dal 2020 al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326B4-0718-7B06-2CBB-BED88D23D908}"/>
              </a:ext>
            </a:extLst>
          </p:cNvPr>
          <p:cNvSpPr/>
          <p:nvPr/>
        </p:nvSpPr>
        <p:spPr>
          <a:xfrm>
            <a:off x="612000" y="612742"/>
            <a:ext cx="10972800" cy="563251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schemeClr val="bg1">
                <a:lumMod val="8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484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>
            <a:alpha val="14902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A75C6-ACC4-63BA-A98E-8B29AF4E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0EED36-ED5C-E71E-AA11-85C5991AD259}"/>
              </a:ext>
            </a:extLst>
          </p:cNvPr>
          <p:cNvCxnSpPr>
            <a:cxnSpLocks/>
          </p:cNvCxnSpPr>
          <p:nvPr/>
        </p:nvCxnSpPr>
        <p:spPr>
          <a:xfrm>
            <a:off x="11434713" y="0"/>
            <a:ext cx="0" cy="59765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0E323-C4CF-F07F-18FC-EC8FD5E40EE4}"/>
              </a:ext>
            </a:extLst>
          </p:cNvPr>
          <p:cNvSpPr txBox="1"/>
          <p:nvPr/>
        </p:nvSpPr>
        <p:spPr>
          <a:xfrm>
            <a:off x="757284" y="593888"/>
            <a:ext cx="10253217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PROBLEMA</a:t>
            </a:r>
            <a:r>
              <a:rPr lang="it-IT" sz="3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 </a:t>
            </a: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Analizzare l’ evoluzione degli incidenti stradali in Italia negli ultimi anni </a:t>
            </a: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(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osservati dal 2020 – 2024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) e individuare le aree maggiormente interessate da questo fenomeno.</a:t>
            </a:r>
          </a:p>
          <a:p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A0C7D-6274-2049-437D-995E96549ECF}"/>
              </a:ext>
            </a:extLst>
          </p:cNvPr>
          <p:cNvSpPr txBox="1"/>
          <p:nvPr/>
        </p:nvSpPr>
        <p:spPr>
          <a:xfrm>
            <a:off x="757283" y="2988297"/>
            <a:ext cx="102532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Obiettivi </a:t>
            </a:r>
            <a:r>
              <a:rPr lang="it-IT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:</a:t>
            </a:r>
          </a:p>
          <a:p>
            <a:endParaRPr lang="it-IT" sz="2000" u="sng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Analizzare il trend a livello nazionale con focus a livello regionale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Individuare i comuni con rischio maggiore di incidenti e quelli con maggior incidentalità pro capite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Fornire uno strumento a supporto decisionale per un possibile investimento in termini  di sicurezza stradale.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EE2A2-7759-0DC6-6660-3BB144CAD610}"/>
              </a:ext>
            </a:extLst>
          </p:cNvPr>
          <p:cNvSpPr txBox="1"/>
          <p:nvPr/>
        </p:nvSpPr>
        <p:spPr>
          <a:xfrm>
            <a:off x="11293311" y="6060003"/>
            <a:ext cx="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217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>
            <a:alpha val="14902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7255C-B01C-6006-EDA0-D36E910A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9F1F0F-07FA-D85B-3478-5AC5E69F284E}"/>
              </a:ext>
            </a:extLst>
          </p:cNvPr>
          <p:cNvCxnSpPr>
            <a:cxnSpLocks/>
          </p:cNvCxnSpPr>
          <p:nvPr/>
        </p:nvCxnSpPr>
        <p:spPr>
          <a:xfrm>
            <a:off x="11434713" y="0"/>
            <a:ext cx="0" cy="59765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F8B58D-34C9-5744-C661-E652D34BE056}"/>
              </a:ext>
            </a:extLst>
          </p:cNvPr>
          <p:cNvSpPr txBox="1"/>
          <p:nvPr/>
        </p:nvSpPr>
        <p:spPr>
          <a:xfrm>
            <a:off x="757283" y="593888"/>
            <a:ext cx="1025321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BASE DELL’ ANALISI e STRUMENTI UTILIZZATI</a:t>
            </a: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4397AC-6855-D8D6-79FA-ED5C81023F9E}"/>
              </a:ext>
            </a:extLst>
          </p:cNvPr>
          <p:cNvSpPr txBox="1"/>
          <p:nvPr/>
        </p:nvSpPr>
        <p:spPr>
          <a:xfrm>
            <a:off x="757283" y="1371024"/>
            <a:ext cx="102532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Dataset :</a:t>
            </a:r>
          </a:p>
          <a:p>
            <a:endParaRPr lang="it-IT" sz="2000" u="sng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SITUAS : </a:t>
            </a:r>
            <a:r>
              <a:rPr lang="it-IT" sz="2000" dirty="0">
                <a:solidFill>
                  <a:srgbClr val="E68F96"/>
                </a:solidFill>
                <a:latin typeface="D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https://situas.istat.it/web/#/territorio/body?id=74&amp;dateFrom=2020-12-31</a:t>
            </a:r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ISTAT : </a:t>
            </a:r>
            <a:r>
              <a:rPr lang="it-IT" sz="2000" dirty="0">
                <a:solidFill>
                  <a:srgbClr val="E68F96"/>
                </a:solidFill>
                <a:latin typeface="D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https://esploradati.istat.it/SDMXWS/rest/data/41_983</a:t>
            </a:r>
            <a:r>
              <a:rPr lang="it-IT" sz="2000" dirty="0">
                <a:solidFill>
                  <a:srgbClr val="E68F96"/>
                </a:solidFill>
                <a:latin typeface="DiN"/>
              </a:rPr>
              <a:t>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(endpoint)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36188-9EBB-F1EF-0A78-EF450433D67E}"/>
              </a:ext>
            </a:extLst>
          </p:cNvPr>
          <p:cNvSpPr txBox="1"/>
          <p:nvPr/>
        </p:nvSpPr>
        <p:spPr>
          <a:xfrm>
            <a:off x="11293311" y="6060003"/>
            <a:ext cx="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DB294-C1F6-8959-7671-DA72D67025A9}"/>
              </a:ext>
            </a:extLst>
          </p:cNvPr>
          <p:cNvSpPr txBox="1"/>
          <p:nvPr/>
        </p:nvSpPr>
        <p:spPr>
          <a:xfrm>
            <a:off x="757283" y="3474983"/>
            <a:ext cx="1025321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Strumenti :</a:t>
            </a:r>
          </a:p>
          <a:p>
            <a:endParaRPr lang="it-IT" sz="1600" u="sng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Python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Librerie Python </a:t>
            </a: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(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es. </a:t>
            </a:r>
            <a:r>
              <a:rPr lang="it-IT" sz="24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Pandas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, </a:t>
            </a:r>
            <a:r>
              <a:rPr lang="it-IT" sz="24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Matplotlib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, </a:t>
            </a:r>
            <a:r>
              <a:rPr lang="it-IT" sz="24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Selenium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…</a:t>
            </a: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)</a:t>
            </a:r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VSCode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Power BI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</p:spTree>
    <p:extLst>
      <p:ext uri="{BB962C8B-B14F-4D97-AF65-F5344CB8AC3E}">
        <p14:creationId xmlns:p14="http://schemas.microsoft.com/office/powerpoint/2010/main" val="256314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>
            <a:alpha val="14902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A193B-7EA4-B085-B02E-4DC3CF73D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4CA679-C4B2-F10C-CEC9-EF72A1A772B8}"/>
              </a:ext>
            </a:extLst>
          </p:cNvPr>
          <p:cNvCxnSpPr>
            <a:cxnSpLocks/>
          </p:cNvCxnSpPr>
          <p:nvPr/>
        </p:nvCxnSpPr>
        <p:spPr>
          <a:xfrm>
            <a:off x="11434713" y="0"/>
            <a:ext cx="0" cy="59765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A9C0CF-D6C6-CD7D-BD46-39003DF2E0AB}"/>
              </a:ext>
            </a:extLst>
          </p:cNvPr>
          <p:cNvSpPr txBox="1"/>
          <p:nvPr/>
        </p:nvSpPr>
        <p:spPr>
          <a:xfrm>
            <a:off x="757285" y="593888"/>
            <a:ext cx="9517932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PROCESSO</a:t>
            </a:r>
            <a:r>
              <a:rPr lang="it-IT" sz="3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 </a:t>
            </a: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Si è articolato in differenti fasi tra cui: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Recupero dei dataset di base (ISTAT e SITUAS)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Pulizia dei dataset e controllo della struttura di 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Integrazione dei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Creazione di indicatori quali incidenti pro capite, densità incidenti e densità di popolazione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Classificazione dei comuni per classe demografica e classe di superficie per confrontarli in base alle caratteristiche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Analisi descrittiva e statistica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Realizzazione di una dashboard a supporto dell’ analisi</a:t>
            </a:r>
          </a:p>
          <a:p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81AD9-5674-DFC8-2A65-6FA3A76E8845}"/>
              </a:ext>
            </a:extLst>
          </p:cNvPr>
          <p:cNvSpPr txBox="1"/>
          <p:nvPr/>
        </p:nvSpPr>
        <p:spPr>
          <a:xfrm>
            <a:off x="11293311" y="6060003"/>
            <a:ext cx="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7185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>
            <a:alpha val="14902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C4071-EBCD-611A-A553-35D6AF5F1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A23A2C-6385-2A47-CAF9-FD4618C4B6D0}"/>
              </a:ext>
            </a:extLst>
          </p:cNvPr>
          <p:cNvCxnSpPr>
            <a:cxnSpLocks/>
          </p:cNvCxnSpPr>
          <p:nvPr/>
        </p:nvCxnSpPr>
        <p:spPr>
          <a:xfrm>
            <a:off x="11434713" y="0"/>
            <a:ext cx="0" cy="59765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B2DA68-CF3E-06FE-8AA1-70EBB110FA38}"/>
              </a:ext>
            </a:extLst>
          </p:cNvPr>
          <p:cNvSpPr txBox="1"/>
          <p:nvPr/>
        </p:nvSpPr>
        <p:spPr>
          <a:xfrm>
            <a:off x="606462" y="563110"/>
            <a:ext cx="6623902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Analizzando i dati sono stati osservati i seguenti risultati:</a:t>
            </a:r>
          </a:p>
          <a:p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Dal 2020 al 2024 in Italia c’ è stato un incremento di incidenti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Il 70% dei comuni Italiani (per classe demografica)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 grandi comuni registrano più incidenti assoluti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Incidentalità pro capite diviene elevata quando i comuni hanno dimensioni ridotte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Osservando le correlazioni tra variabili e clustering sono emerse profilazioni di interesse</a:t>
            </a:r>
          </a:p>
          <a:p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83113-D8D2-9145-46AA-BA68C41D66FA}"/>
              </a:ext>
            </a:extLst>
          </p:cNvPr>
          <p:cNvSpPr txBox="1"/>
          <p:nvPr/>
        </p:nvSpPr>
        <p:spPr>
          <a:xfrm>
            <a:off x="11293311" y="6060003"/>
            <a:ext cx="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C8F47A-FCB6-77F2-1A7E-8B46BC66A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880" y="1454326"/>
            <a:ext cx="3679317" cy="139611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85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0F07DF-6AE4-436D-5D0D-F7FEE2D7162A}"/>
              </a:ext>
            </a:extLst>
          </p:cNvPr>
          <p:cNvSpPr txBox="1"/>
          <p:nvPr/>
        </p:nvSpPr>
        <p:spPr>
          <a:xfrm>
            <a:off x="689726" y="593888"/>
            <a:ext cx="103883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RISULTATI</a:t>
            </a:r>
            <a:endParaRPr lang="it-IT" sz="3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DE81E-CDF8-BD82-59A2-91A9130D2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906" y="2988297"/>
            <a:ext cx="2827265" cy="309142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8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446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>
            <a:alpha val="14902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04BDE-D6D9-1CCB-67DD-763547E5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7AC342-BBA3-D37E-FDF1-197A1CD72705}"/>
              </a:ext>
            </a:extLst>
          </p:cNvPr>
          <p:cNvCxnSpPr>
            <a:cxnSpLocks/>
          </p:cNvCxnSpPr>
          <p:nvPr/>
        </p:nvCxnSpPr>
        <p:spPr>
          <a:xfrm>
            <a:off x="11434713" y="0"/>
            <a:ext cx="0" cy="59765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73AADD-B199-05FA-5916-6FDC76811E6D}"/>
              </a:ext>
            </a:extLst>
          </p:cNvPr>
          <p:cNvSpPr txBox="1"/>
          <p:nvPr/>
        </p:nvSpPr>
        <p:spPr>
          <a:xfrm>
            <a:off x="757284" y="593888"/>
            <a:ext cx="1025321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5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CONCLUSIONI</a:t>
            </a:r>
            <a:r>
              <a:rPr lang="it-IT" sz="3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 </a:t>
            </a:r>
          </a:p>
          <a:p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endParaRPr lang="it-IT" sz="40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B5856-F854-FF35-7BBC-431C4B8ECC9C}"/>
              </a:ext>
            </a:extLst>
          </p:cNvPr>
          <p:cNvSpPr txBox="1"/>
          <p:nvPr/>
        </p:nvSpPr>
        <p:spPr>
          <a:xfrm>
            <a:off x="11293311" y="6060003"/>
            <a:ext cx="29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B3A49-2013-F097-DA77-EE6D4020924D}"/>
              </a:ext>
            </a:extLst>
          </p:cNvPr>
          <p:cNvSpPr txBox="1"/>
          <p:nvPr/>
        </p:nvSpPr>
        <p:spPr>
          <a:xfrm>
            <a:off x="3047215" y="2246416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32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3542F-B9F8-95ED-8EA9-F456D7997202}"/>
              </a:ext>
            </a:extLst>
          </p:cNvPr>
          <p:cNvSpPr txBox="1"/>
          <p:nvPr/>
        </p:nvSpPr>
        <p:spPr>
          <a:xfrm>
            <a:off x="757284" y="1049305"/>
            <a:ext cx="102532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L’ analisi ha suggerito le seguenti conclusioni: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Esiste una forte correlazione tra i residenti e incidenti in termine assoluto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Vi è una relazione positiva tra la densità della popolazione e la densità degli incidenti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Non sussiste una relazione significativa invece tra la densità della popolazione e gli incidenti pro capite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Il clustering ha individuato dei gruppi con caratteristiche simili, basati sui 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residenti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, 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densità degli incidenti 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e </a:t>
            </a:r>
            <a:r>
              <a:rPr lang="it-IT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incidenti pro capite, 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i quali potrebbero essere di supporto per la scelta di un eventuale zona di investimento.</a:t>
            </a: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     Rilevante è il </a:t>
            </a:r>
            <a:r>
              <a:rPr lang="it-IT" sz="2400" dirty="0">
                <a:solidFill>
                  <a:srgbClr val="E68F96"/>
                </a:solidFill>
                <a:latin typeface="DiN"/>
              </a:rPr>
              <a:t>cluster 2 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che presenta la densità più alta di incidenti, in cui spicca</a:t>
            </a:r>
          </a:p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iN"/>
              </a:rPr>
              <a:t>     il comune di Milano e altri comuni limitrofi.</a:t>
            </a:r>
          </a:p>
          <a:p>
            <a:endParaRPr lang="it-IT" sz="2400" dirty="0">
              <a:solidFill>
                <a:schemeClr val="tx1">
                  <a:lumMod val="75000"/>
                  <a:lumOff val="25000"/>
                </a:schemeClr>
              </a:solidFill>
              <a:latin typeface="DiN"/>
            </a:endParaRPr>
          </a:p>
        </p:txBody>
      </p:sp>
    </p:spTree>
    <p:extLst>
      <p:ext uri="{BB962C8B-B14F-4D97-AF65-F5344CB8AC3E}">
        <p14:creationId xmlns:p14="http://schemas.microsoft.com/office/powerpoint/2010/main" val="388848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419</Words>
  <Application>Microsoft Office PowerPoint</Application>
  <PresentationFormat>Widescreen</PresentationFormat>
  <Paragraphs>61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DiN</vt:lpstr>
      <vt:lpstr>Office Theme</vt:lpstr>
      <vt:lpstr>Analisi: Incidenti stradali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 Valenti</dc:creator>
  <cp:lastModifiedBy>Elia Valenti</cp:lastModifiedBy>
  <cp:revision>2</cp:revision>
  <dcterms:created xsi:type="dcterms:W3CDTF">2026-07-03T10:09:22Z</dcterms:created>
  <dcterms:modified xsi:type="dcterms:W3CDTF">2026-07-03T13:24:58Z</dcterms:modified>
</cp:coreProperties>
</file>